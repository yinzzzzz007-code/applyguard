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7ce53180684893" /><Relationship Type="http://schemas.openxmlformats.org/officeDocument/2006/relationships/extended-properties" Target="/docProps/app.xml" Id="R4db0c191694548af" /><Relationship Type="http://schemas.openxmlformats.org/officeDocument/2006/relationships/officeDocument" Target="/ppt/presentation.xml" Id="Rc9d94794b6d649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56b80b54ff42b1"/>
  </p:sldMasterIdLst>
  <p:notesMasterIdLst>
    <p:notesMasterId xmlns:r="http://schemas.openxmlformats.org/officeDocument/2006/relationships" r:id="R03b26f7f14fc4975"/>
  </p:notesMasterIdLst>
  <p:sldIdLst>
    <p:sldId xmlns:r="http://schemas.openxmlformats.org/officeDocument/2006/relationships" id="256" r:id="R758cfb6422d94b32"/>
    <p:sldId xmlns:r="http://schemas.openxmlformats.org/officeDocument/2006/relationships" id="257" r:id="R6132af6d326c465b"/>
    <p:sldId xmlns:r="http://schemas.openxmlformats.org/officeDocument/2006/relationships" id="258" r:id="R412a68588e08480d"/>
    <p:sldId xmlns:r="http://schemas.openxmlformats.org/officeDocument/2006/relationships" id="259" r:id="R89c5740865364194"/>
    <p:sldId xmlns:r="http://schemas.openxmlformats.org/officeDocument/2006/relationships" id="260" r:id="R295cc9e06ff945ca"/>
    <p:sldId xmlns:r="http://schemas.openxmlformats.org/officeDocument/2006/relationships" id="261" r:id="R5751f039758a4199"/>
    <p:sldId xmlns:r="http://schemas.openxmlformats.org/officeDocument/2006/relationships" id="262" r:id="Rcbedc90a6bf748c3"/>
    <p:sldId xmlns:r="http://schemas.openxmlformats.org/officeDocument/2006/relationships" id="263" r:id="R8e0e3673b7554332"/>
    <p:sldId xmlns:r="http://schemas.openxmlformats.org/officeDocument/2006/relationships" id="264" r:id="Re559fe0458a847a9"/>
    <p:sldId xmlns:r="http://schemas.openxmlformats.org/officeDocument/2006/relationships" id="265" r:id="Re346fe2a57ae4306"/>
    <p:sldId xmlns:r="http://schemas.openxmlformats.org/officeDocument/2006/relationships" id="266" r:id="R904718b84e954f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4c06353e6f419c" /><Relationship Type="http://schemas.openxmlformats.org/officeDocument/2006/relationships/slideMaster" Target="/ppt/slideMasters/slideMaster1.xml" Id="Rae56b80b54ff42b1" /><Relationship Type="http://schemas.openxmlformats.org/officeDocument/2006/relationships/notesMaster" Target="/ppt/notesMasters/notesMaster1.xml" Id="R03b26f7f14fc4975" /><Relationship Type="http://schemas.openxmlformats.org/officeDocument/2006/relationships/presProps" Target="/ppt/presProps.xml" Id="R91fa84318217466e" /><Relationship Type="http://schemas.openxmlformats.org/officeDocument/2006/relationships/tableStyles" Target="/ppt/tableStyles.xml" Id="R4c7224ac652a453c" /><Relationship Type="http://schemas.openxmlformats.org/officeDocument/2006/relationships/slide" Target="/ppt/slides/slide1.xml" Id="R758cfb6422d94b32" /><Relationship Type="http://schemas.openxmlformats.org/officeDocument/2006/relationships/slide" Target="/ppt/slides/slide2.xml" Id="R6132af6d326c465b" /><Relationship Type="http://schemas.openxmlformats.org/officeDocument/2006/relationships/slide" Target="/ppt/slides/slide3.xml" Id="R412a68588e08480d" /><Relationship Type="http://schemas.openxmlformats.org/officeDocument/2006/relationships/slide" Target="/ppt/slides/slide4.xml" Id="R89c5740865364194" /><Relationship Type="http://schemas.openxmlformats.org/officeDocument/2006/relationships/slide" Target="/ppt/slides/slide5.xml" Id="R295cc9e06ff945ca" /><Relationship Type="http://schemas.openxmlformats.org/officeDocument/2006/relationships/slide" Target="/ppt/slides/slide6.xml" Id="R5751f039758a4199" /><Relationship Type="http://schemas.openxmlformats.org/officeDocument/2006/relationships/slide" Target="/ppt/slides/slide7.xml" Id="Rcbedc90a6bf748c3" /><Relationship Type="http://schemas.openxmlformats.org/officeDocument/2006/relationships/slide" Target="/ppt/slides/slide8.xml" Id="R8e0e3673b7554332" /><Relationship Type="http://schemas.openxmlformats.org/officeDocument/2006/relationships/slide" Target="/ppt/slides/slide9.xml" Id="Re559fe0458a847a9" /><Relationship Type="http://schemas.openxmlformats.org/officeDocument/2006/relationships/slide" Target="/ppt/slides/slide10.xml" Id="Re346fe2a57ae4306" /><Relationship Type="http://schemas.openxmlformats.org/officeDocument/2006/relationships/slide" Target="/ppt/slides/slide11.xml" Id="R904718b84e954f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eda4b039d14a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6afe7f66824da8" /><Relationship Type="http://schemas.openxmlformats.org/officeDocument/2006/relationships/notesMaster" Target="/ppt/notesMasters/notesMaster1.xml" Id="R475faaa6a5be48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1b523a29074b41" /><Relationship Type="http://schemas.openxmlformats.org/officeDocument/2006/relationships/notesMaster" Target="/ppt/notesMasters/notesMaster1.xml" Id="R7d5f9a11cda143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31aa7de5694244" /><Relationship Type="http://schemas.openxmlformats.org/officeDocument/2006/relationships/notesMaster" Target="/ppt/notesMasters/notesMaster1.xml" Id="Raf80675da3684b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b5cdbafa154533" /><Relationship Type="http://schemas.openxmlformats.org/officeDocument/2006/relationships/notesMaster" Target="/ppt/notesMasters/notesMaster1.xml" Id="R2a66c1b5a9834a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af7d329e0d4f5f" /><Relationship Type="http://schemas.openxmlformats.org/officeDocument/2006/relationships/notesMaster" Target="/ppt/notesMasters/notesMaster1.xml" Id="R55600621260a45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77cf3bd8524e06" /><Relationship Type="http://schemas.openxmlformats.org/officeDocument/2006/relationships/notesMaster" Target="/ppt/notesMasters/notesMaster1.xml" Id="Re2e4d55b87504b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b9e621552a4cde" /><Relationship Type="http://schemas.openxmlformats.org/officeDocument/2006/relationships/notesMaster" Target="/ppt/notesMasters/notesMaster1.xml" Id="Rd90ec28bb26743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0b987d097d435e" /><Relationship Type="http://schemas.openxmlformats.org/officeDocument/2006/relationships/notesMaster" Target="/ppt/notesMasters/notesMaster1.xml" Id="R30ef832320f04c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c6234d7f2044ce" /><Relationship Type="http://schemas.openxmlformats.org/officeDocument/2006/relationships/notesMaster" Target="/ppt/notesMasters/notesMaster1.xml" Id="R96efbfa0ffe148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6d758b76354b28" /><Relationship Type="http://schemas.openxmlformats.org/officeDocument/2006/relationships/notesMaster" Target="/ppt/notesMasters/notesMaster1.xml" Id="R89593686d36d49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e0bb7d92b6495f" /><Relationship Type="http://schemas.openxmlformats.org/officeDocument/2006/relationships/notesMaster" Target="/ppt/notesMasters/notesMaster1.xml" Id="Rb3e10ae45b8547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team plan at https://my.feishu.cn/wiki/DAZgwqkIYixhoQk18E7cFlwhngb; docs/proposal-scope.md. User-study sample sizes come from the team plan and are planned, not completed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team plan at https://my.feishu.cn/wiki/DAZgwqkIYixhoQk18E7cFlwhngb; docs/proposal-scope.md. This slide describes product categories and the project gap without claiming measured market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5ab1777a84b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67babceb2b463a" /><Relationship Type="http://schemas.openxmlformats.org/officeDocument/2006/relationships/slideLayout" Target="/ppt/slideLayouts/slideLayout1.xml" Id="Rb03ef275653b47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3ef275653b47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75ec016ba4fdb" /><Relationship Type="http://schemas.openxmlformats.org/officeDocument/2006/relationships/notesSlide" Target="/ppt/notesSlides/notesSlide1.xml" Id="R77d5180988a44a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437ba16c54f34" /><Relationship Type="http://schemas.openxmlformats.org/officeDocument/2006/relationships/notesSlide" Target="/ppt/notesSlides/notesSlide2.xml" Id="R40cdf7e7077e45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35d5893ab481d" /><Relationship Type="http://schemas.openxmlformats.org/officeDocument/2006/relationships/notesSlide" Target="/ppt/notesSlides/notesSlide3.xml" Id="R51895dc6d15644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d3ad318284806" /><Relationship Type="http://schemas.openxmlformats.org/officeDocument/2006/relationships/notesSlide" Target="/ppt/notesSlides/notesSlide4.xml" Id="R9e044d8e36e848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b0332b9204188" /><Relationship Type="http://schemas.openxmlformats.org/officeDocument/2006/relationships/notesSlide" Target="/ppt/notesSlides/notesSlide5.xml" Id="R31ee57d1e44d45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c3e355fdf451a" /><Relationship Type="http://schemas.openxmlformats.org/officeDocument/2006/relationships/notesSlide" Target="/ppt/notesSlides/notesSlide6.xml" Id="R7a7bdcd4a9424d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37bd0b0a54359" /><Relationship Type="http://schemas.openxmlformats.org/officeDocument/2006/relationships/notesSlide" Target="/ppt/notesSlides/notesSlide7.xml" Id="R94049592a57e4b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fb0d662cf44ac" /><Relationship Type="http://schemas.openxmlformats.org/officeDocument/2006/relationships/notesSlide" Target="/ppt/notesSlides/notesSlide8.xml" Id="Rfe78a9458ca040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7f6b3e2d842dc" /><Relationship Type="http://schemas.openxmlformats.org/officeDocument/2006/relationships/notesSlide" Target="/ppt/notesSlides/notesSlide9.xml" Id="R48ce7749720642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821e1598240a5" /><Relationship Type="http://schemas.openxmlformats.org/officeDocument/2006/relationships/notesSlide" Target="/ppt/notesSlides/notesSlide10.xml" Id="Rea173f61a07040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000d1373b4622" /><Relationship Type="http://schemas.openxmlformats.org/officeDocument/2006/relationships/notesSlide" Target="/ppt/notesSlides/notesSlide11.xml" Id="R6419b079a1f049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46BE8-2AEA-499D-AFB7-9FF06E0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57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8B34F-4B63-40FD-AD5F-4F8354BC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ApplyGuard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C4CED-1018-4559-B271-0BEB26BA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CE5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5EF"/>
                </a:solidFill>
                <a:latin typeface="Arial"/>
                <a:ea typeface="Arial"/>
                <a:cs typeface="Arial"/>
              </a:rPr>
              <a:t>Evidence-grounded job applications with human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A99AE-8248-4816-9739-7067FC0A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9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9CA"/>
                </a:solidFill>
                <a:latin typeface="Arial"/>
                <a:ea typeface="Arial"/>
                <a:cs typeface="Arial"/>
              </a:rPr>
              <a:t>Software Engineering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D0BEB-E24E-4276-AB76-22886C1A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9CA"/>
                </a:solidFill>
                <a:latin typeface="Arial"/>
                <a:ea typeface="Arial"/>
                <a:cs typeface="Arial"/>
              </a:rPr>
              <a:t>Proposal foundation  |  10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215647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28D00-ECD6-472C-B65B-F696B5AC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1E11E-DE73-4AC4-ADEA-8A4E2218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7B8F5-0D1D-465F-8F18-CBF47A14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FA3B8-6D8B-44C4-98EE-9A4C124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85752-49AB-499C-9C36-D9778BD5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Applicants repeatedly turn scattered experience into job-specific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F0AF8-4318-439C-A742-7AB0701E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0A1B8-A366-4D4D-84E5-49F58A9B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Current tools can improve wording while losing the connection to evidence, hiding uncertainty, or creating unsupported statements.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16606-8C7E-4F9E-A8B6-F305E5A4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The missing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E2D1B-1E9A-444F-AEE2-A5DF39A4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Trace every claim</a:t>
            </a:r>
          </a:p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Explain every selection</a:t>
            </a:r>
          </a:p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Stop before submission</a:t>
            </a:r>
          </a:p>
        </p:txBody>
      </p:sp>
    </p:spTree>
    <p:extLst>
      <p:ext uri="{BB962C8B-B14F-4D97-AF65-F5344CB8AC3E}">
        <p14:creationId xmlns:p14="http://schemas.microsoft.com/office/powerpoint/2010/main" val="745911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28D60-4C6C-45FD-A000-D8314315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D284B-551C-4C09-9BA4-2A7869C0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Target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9B87F-A3C9-4F6E-B581-CD04BA98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F54A9-612F-4095-9DB6-A13FD724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B1BE3-FD38-4CE2-B24E-553417A5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Primary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75484-3D09-40A8-8ED8-945DA818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859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University students and recent graduates applying for internships or entry-level software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B51FB-7DDE-4079-937D-E738118C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9C481-3A6C-4AF0-96BA-8F939D37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Available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484C3-6E9D-4319-86F3-B0B79866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527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Course projects, internships, volunteer work, repositories, reports, and certificates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9FD3C-74FC-4174-B3A6-CB6D3163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47BA7-76F4-4FF7-853C-93E1B7F5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Decision pressure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FC3BB-C63B-4D42-AD19-AF6BD5FA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Select relevant experience, avoid exaggeration, and confirm risky ATS fields before submission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5BA50-9F7A-4DFF-A300-D4296EF8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05BA3-F2E0-4FE5-994B-0BDDBBEA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Study 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D17B8-57A6-460A-A38D-9F94C7E6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863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B will run 10-20 lightweight surveys and 4-6 semi-structured interviews before the proposal</a:t>
            </a:r>
          </a:p>
        </p:txBody>
      </p:sp>
    </p:spTree>
    <p:extLst>
      <p:ext uri="{BB962C8B-B14F-4D97-AF65-F5344CB8AC3E}">
        <p14:creationId xmlns:p14="http://schemas.microsoft.com/office/powerpoint/2010/main" val="16389240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BD383-396F-4C54-86DE-83285E3B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58F2D-ABBF-42C6-9D88-1786DC9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Related Work and Project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DD190-C3C9-4C57-BB3B-477FC050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44DC8-5D4E-429F-890A-86EBC29F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4D648-6CA4-499D-B5F9-BD7760BF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General writing assistants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59A64-AA6B-47FE-BF35-D599F639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85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2EDB2-BEE6-4A2D-A3BF-D3B8D5F9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9718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Useful for rewriting and drafting. They may not retain structured evidence or expose unsupported fragments.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AC05D-0189-4C4E-9940-3DF822E2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764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Resume builders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EDBF2-1DFE-4FF0-B933-F5D9D1BA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285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1C615-ADEC-4673-B7C4-8A481AA6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29718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Useful for formatting and templates. They often treat source experience as free text and stop before ATS risk checks.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119AF-830F-4431-89BD-9AAD2B64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ApplyGuard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AC12E-FE82-4AE2-AF80-AA90F385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285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D2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4A39A-497D-4944-AF82-4302AE8D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28900"/>
            <a:ext cx="29718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A single inspectable path connects evidence, job requirements, resume claims, ATS fields, visible risks, and user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644020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DE089-9B77-49DF-BE45-761D0E0C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CA39A-2278-4184-AD6F-7AED5369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Proposal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B2FEA-3638-40A9-8905-33C37220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56D35-8DA9-494F-972A-EA35AC7D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2B4D0-FBE4-4D38-97A4-E8E97FB7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P0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4554E-7671-43D4-8632-41E6FD4D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One runnable mock workflow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Frozen JSON contracts and error format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Fictional Career Vault data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Evidence IDs on every selected claim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Human confirmation before any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00027-C6FD-43CB-9848-91D8C53D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66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Outside the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D0573-7394-4AEF-9929-7518EE79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Automatic application submission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Support for every ATS platform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Production identity verification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Claims without stored evidence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Measured accuracy before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78A8B-DA3D-4E70-807F-290ABBFA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7"/>
          </a:solidFill>
          <a:ln xmlns:a="http://schemas.openxmlformats.org/drawingml/2006/main" w="9525">
            <a:solidFill>
              <a:srgbClr val="486A9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D3239-B267-4499-928B-B1BCAFD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Core scope: three user stories and one complete main workflow</a:t>
            </a:r>
          </a:p>
        </p:txBody>
      </p:sp>
    </p:spTree>
    <p:extLst>
      <p:ext uri="{BB962C8B-B14F-4D97-AF65-F5344CB8AC3E}">
        <p14:creationId xmlns:p14="http://schemas.microsoft.com/office/powerpoint/2010/main" val="233394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79D62-4C02-499C-93F3-76A17ED6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76DAF-9055-4CEA-9BF2-2CF54149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End-to-End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96A71-65C8-4577-9C15-F317315B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31BAC-8ED1-4F58-99EB-FA4FD557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9CC55-A1ED-4C3F-8922-0009DE78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Career Vault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3DCFF-F42C-4B59-9057-88278097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288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JD Parser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9AA17-5A51-486B-B5B3-6D2696AE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288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Evidence Matcher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7F32C-23E2-4B83-B7DF-903F160E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288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Resume Selector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F11BA-6A84-4EE0-BA0E-3EEFC41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288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13335">
            <a:solidFill>
              <a:srgbClr val="9F1D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5</a:t>
            </a:r>
          </a:p>
          <a:p xmlns:a="http://schemas.openxmlformats.org/drawingml/2006/main">
            <a:pPr algn="ctr">
              <a:defRPr sz="13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Claim Validator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53A1F-23E8-44E1-8B55-D6B686E7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6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ATS Form Mapper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E8629-F2AF-4682-92F1-809EAC63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13335">
            <a:solidFill>
              <a:srgbClr val="9F1D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7</a:t>
            </a:r>
          </a:p>
          <a:p xmlns:a="http://schemas.openxmlformats.org/drawingml/2006/main">
            <a:pPr algn="ctr">
              <a:defRPr sz="13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Risk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0CBE1-F68F-42DC-A12D-70A078B0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005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3335">
            <a:solidFill>
              <a:srgbClr val="A36B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8</a:t>
            </a:r>
          </a:p>
          <a:p xmlns:a="http://schemas.openxmlformats.org/drawingml/2006/main">
            <a:pPr algn="ctr">
              <a:defRPr sz="1350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Human Confirmation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52E8E-EC46-4C19-9B9F-0DE0664F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5EC"/>
          </a:solidFill>
          <a:ln xmlns:a="http://schemas.openxmlformats.org/drawingml/2006/main" w="13335">
            <a:solidFill>
              <a:srgbClr val="3F6B4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6B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6B45"/>
                </a:solidFill>
                <a:latin typeface="Arial"/>
                <a:ea typeface="Arial"/>
                <a:cs typeface="Arial"/>
              </a:rPr>
              <a:t>9</a:t>
            </a:r>
          </a:p>
          <a:p xmlns:a="http://schemas.openxmlformats.org/drawingml/2006/main">
            <a:pPr algn="ctr">
              <a:defRPr sz="1350" b="1">
                <a:solidFill>
                  <a:srgbClr val="3F6B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6B45"/>
                </a:solidFill>
                <a:latin typeface="Arial"/>
                <a:ea typeface="Arial"/>
                <a:cs typeface="Arial"/>
              </a:rPr>
              <a:t>Audit Record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00300" y="22383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24400" y="22383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48500" y="22383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72600" y="22383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9563100" y="2647950"/>
            <a:ext cx="1181100" cy="1352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191500" y="4410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5867400" y="4410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543300" y="4410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13C09-2CD5-4DF4-849E-61C150AF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The proposal demo ends with an auditable draft. It does not submit an application.</a:t>
            </a:r>
          </a:p>
        </p:txBody>
      </p:sp>
    </p:spTree>
    <p:extLst>
      <p:ext uri="{BB962C8B-B14F-4D97-AF65-F5344CB8AC3E}">
        <p14:creationId xmlns:p14="http://schemas.microsoft.com/office/powerpoint/2010/main" val="1115127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627BB-7DE0-4337-A07F-282CD98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84E05-60F5-4AA7-B30E-ED153763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E8CE8-A367-4C79-856B-8ECB61DB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F3FFF-7C3D-4C65-8EF5-3526FD93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CD311-9F6B-4DCF-8BE2-6924C2B5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16192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Applicant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B9647-3D2B-4587-9ADB-83AF1B17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EFF7"/>
          </a:solidFill>
          <a:ln xmlns:a="http://schemas.openxmlformats.org/drawingml/2006/main" w="13335">
            <a:solidFill>
              <a:srgbClr val="486A9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Web UI and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ATS Simulator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6BE05-4730-4447-8C58-A68882BA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E8F4"/>
          </a:solidFill>
          <a:ln xmlns:a="http://schemas.openxmlformats.org/drawingml/2006/main" w="13335">
            <a:solidFill>
              <a:srgbClr val="486A9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Workflow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Orchestrator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E63DD-1670-4AA3-9DFB-B51DFC6E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764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Career Vault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and contracts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09F4B-DC05-40D0-BC2B-A4A8DA65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13335">
            <a:solidFill>
              <a:srgbClr val="9F1D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Parser, matcher,</a:t>
            </a:r>
          </a:p>
          <a:p xmlns:a="http://schemas.openxmlformats.org/drawingml/2006/main">
            <a:pPr algn="ctr">
              <a:defRPr sz="13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selector, validator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586E8-6833-432F-AD98-A2933E36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386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3335">
            <a:solidFill>
              <a:srgbClr val="A36B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Risk check and</a:t>
            </a:r>
          </a:p>
          <a:p xmlns:a="http://schemas.openxmlformats.org/drawingml/2006/main">
            <a:pPr algn="ctr">
              <a:defRPr sz="1350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human confirmation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73BE1-C49D-4251-979F-B20A45D4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5EC"/>
          </a:solidFill>
          <a:ln xmlns:a="http://schemas.openxmlformats.org/drawingml/2006/main" w="13335">
            <a:solidFill>
              <a:srgbClr val="3F6B4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6B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6B45"/>
                </a:solidFill>
                <a:latin typeface="Arial"/>
                <a:ea typeface="Arial"/>
                <a:cs typeface="Arial"/>
              </a:rPr>
              <a:t>Audit Record</a:t>
            </a:r>
          </a:p>
        </p:txBody>
      </p:sp>
      <p:cxnSp>
        <p:nvCxnSpPr>
          <p:cNvPr id="32" name=""/>
          <p:cNvCxnSpPr>
            <a:stCxn xmlns:a="http://schemas.openxmlformats.org/drawingml/2006/main" id="5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14550" y="32004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57700" y="32004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762750" y="2076450"/>
            <a:ext cx="495300" cy="1123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762750" y="3200400"/>
            <a:ext cx="495300" cy="57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762750" y="3200400"/>
            <a:ext cx="4953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067800" y="2076450"/>
            <a:ext cx="64770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5758B"/>
            </a:solidFill>
            <a:prstDash val="dash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067800" y="32575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5758B"/>
            </a:solidFill>
            <a:prstDash val="dash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067800" y="3257550"/>
            <a:ext cx="64770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5758B"/>
            </a:solidFill>
            <a:prstDash val="dash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8D2B0-FC88-4C7B-A31A-AFFF7534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816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Module contracts let B, C, and D replace internals without redesigning the full system.</a:t>
            </a:r>
          </a:p>
        </p:txBody>
      </p:sp>
    </p:spTree>
    <p:extLst>
      <p:ext uri="{BB962C8B-B14F-4D97-AF65-F5344CB8AC3E}">
        <p14:creationId xmlns:p14="http://schemas.microsoft.com/office/powerpoint/2010/main" val="1311585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BFFF4-C617-47D6-9F6D-57AF79B3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E4FF1-3CDE-40CC-BC6A-A77C06BC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Technical Core and AI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8FFC3-8451-4ACB-BD68-56BE5BDB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38A29-A5F9-4538-B543-3A3AE364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DF44C-5962-4456-AA71-6322175B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Deterministic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0FEFC-BF3D-4CCE-AE38-5CFDD04E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465DB-4058-4D99-B700-E0D29809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04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Schema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Scores and 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State transitions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Confirmation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67BDC-3BE0-4745-BBA5-9D2016A7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AI-assisted modules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31F92-059C-4247-9954-8E9CB22B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D2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0D3C2-2F33-47DB-9D86-093D58B3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57450"/>
            <a:ext cx="304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JD requirement extraction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Claim drafting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Explanation generation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Provider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9FCDB-B41B-4D5E-BBF8-5A3735B6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Enforced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8B7E6-6438-4608-A1A6-7CD773CC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F7824-58B1-432F-9D91-B7B33A9D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304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Evidence IDs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Unsupported-fragment detection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Visible risk reasons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Audit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C6CA4-ED91-4F5D-9784-E66B363B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26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AI can propose content. Contracts, checks, and the applicant decide what proceeds.</a:t>
            </a:r>
          </a:p>
        </p:txBody>
      </p:sp>
    </p:spTree>
    <p:extLst>
      <p:ext uri="{BB962C8B-B14F-4D97-AF65-F5344CB8AC3E}">
        <p14:creationId xmlns:p14="http://schemas.microsoft.com/office/powerpoint/2010/main" val="463476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CFB37-D825-4D3B-8E32-AA298F4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DF092-2BAF-4B47-85D1-ACCDCCFD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Risks and Evaluation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17770-FD43-4A66-B8B3-9DF639BE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83AF6-2BDF-4E66-BE95-DDC6714E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0DA25-A1B3-475B-8992-9F2CAC11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B1F16-0EE9-429F-80AB-645131C9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6388E-1A86-4C5B-84C5-6AB86FE0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Planned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59637-7FAB-4F32-99AA-C926621E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62146-2BC0-43B4-9858-2AC21DAE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Unsupported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0CF97-4370-4ED2-89ED-4A97B22B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Block the fragment and show its missing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3F822-9C7B-426F-815A-AA8EA888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Unsupported Claim Block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F12F5-764D-4210-86CC-F60C488F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609BA-ABA4-440A-8551-DC932EA7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Wrong JD 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0D197-401C-4ADD-9E91-67C7A74F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527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Retain source text and compare parsed 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8B08A-4205-4270-AECF-4033096F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JD Parsing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90270-6B42-4F86-ADDB-4E5C4C6E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6F4E8-A1C8-4E6E-88F9-2B0A417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Malformed model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3B661-A6A9-4F18-965E-57CCA95B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624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Validate JSON and use a deterministic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8E49F-C10E-41BE-BA04-9164F474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Failure Test Suite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01AF3-8787-4269-BC89-F2E4AE4A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F5E8B-0050-43BE-A201-D1C95F10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Confusing risk message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79974-E1F3-4326-AC32-429D2D81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720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Run task-based usability testing after the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9F63F-5A32-493E-BEA9-C5F63772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Completion, time, errors, SUS</a:t>
            </a:r>
          </a:p>
        </p:txBody>
      </p:sp>
    </p:spTree>
    <p:extLst>
      <p:ext uri="{BB962C8B-B14F-4D97-AF65-F5344CB8AC3E}">
        <p14:creationId xmlns:p14="http://schemas.microsoft.com/office/powerpoint/2010/main" val="70358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DF97F-9F96-46BE-BD3A-D0F494D4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7BCCB-DF0C-4689-8D17-452B5F5A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Team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0A8E9-46F4-4CBD-A9C0-A30466A0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4D794-30B5-4202-A091-FED12317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9DF63-88E8-4411-B833-5734BD47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CC7D6-7A91-44AF-9A3E-E068373A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192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1-2 Oct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29712-DC74-4A5A-9895-83B90349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Scope, architecture, contracts, repository foundation,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2CD7B-89AD-4BAE-A0B1-7B240BB1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EE54F-9347-45DB-80C1-7F922D50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36BF1-3659-43A6-9839-F1DD6788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86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3-4 Oct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965AB-B189-455F-8637-2FB4CA2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479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Career Vault, evidence matching, formative user 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666F2-5F7C-4655-ABDE-E98CA87A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CB719-862E-437D-BC08-21760EFB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4563D-8295-46A5-83D7-6A1F145C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528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5-6 Oct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EC40A-0951-494C-8C3E-006BCEF3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JD parser, claim validation, risk engine, failure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94F4E-3DC4-467B-BE49-F094988D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7E7D2-5BE0-4950-A397-2B8520A4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69830-3D58-4F0E-ACCD-1C4A0D9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7-8 Oct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D5CAA-A7AF-4821-B5B7-FD1DE7D2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815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Frontend integration, demo flow, presentation assembly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610B8-017A-4A5B-916D-35C10A4B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329394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44143-4058-4491-8270-9681DD36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65EBB-54B5-47C6-866A-CD35ABE1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Proposal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2AE42-248D-4ABD-8B09-CB45558E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ED84A-2143-47BE-8DB5-5D743979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524D9-00AF-4C36-A5FD-E2E64316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8FA90-D5E0-4A95-BAC3-E24A5641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Load fictional Career Vault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FE0C8-6265-4075-A45B-9205ACC7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85975"/>
            <a:ext cx="809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C0585-874B-4312-8B39-E443AA7B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46E45-C0D8-4811-9B16-A37C3E89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Paste one software-engineering job description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6CC95-770C-45C1-A7EA-1AB8FD9F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809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05503-1DC1-40B1-8711-3115BDCC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E3058-9489-435E-A5C3-7B81A233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Inspect evidence matches and selected resume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B1219-04EB-467C-B3D1-FB58F951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67175"/>
            <a:ext cx="809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C0903-6B12-4F2B-AA81-F54EBEC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8C6DD-CE4E-4167-B0FB-A94876E7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Show the risk result and human-confirmation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2CF08-A599-4DD4-AD47-61918D1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57775"/>
            <a:ext cx="809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2D6BC-0FC2-460C-B06F-104EA8D5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3619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4288">
            <a:solidFill>
              <a:srgbClr val="A36B0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E154C-C230-430B-9C39-29001C3C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Stop before submission</a:t>
            </a:r>
          </a:p>
        </p:txBody>
      </p:sp>
    </p:spTree>
    <p:extLst>
      <p:ext uri="{BB962C8B-B14F-4D97-AF65-F5344CB8AC3E}">
        <p14:creationId xmlns:p14="http://schemas.microsoft.com/office/powerpoint/2010/main" val="1802972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2026-10-01T07:52:16.1770000Z</dcterms:created>
  <dcterms:modified xsi:type="dcterms:W3CDTF">2026-10-01T07:52:16.1770000Z</dcterms:modified>
</coreProperties>
</file>