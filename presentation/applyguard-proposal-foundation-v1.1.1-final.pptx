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958c43b52a4d4f" /><Relationship Type="http://schemas.openxmlformats.org/officeDocument/2006/relationships/extended-properties" Target="/docProps/app.xml" Id="R7b848365357c42d5" /><Relationship Type="http://schemas.openxmlformats.org/officeDocument/2006/relationships/officeDocument" Target="/ppt/presentation.xml" Id="Ra266ef077e8843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396836f3e5462d"/>
  </p:sldMasterIdLst>
  <p:notesMasterIdLst>
    <p:notesMasterId xmlns:r="http://schemas.openxmlformats.org/officeDocument/2006/relationships" r:id="R200eab48148d47fa"/>
  </p:notesMasterIdLst>
  <p:sldIdLst>
    <p:sldId xmlns:r="http://schemas.openxmlformats.org/officeDocument/2006/relationships" id="256" r:id="R6762485755344b5e"/>
    <p:sldId xmlns:r="http://schemas.openxmlformats.org/officeDocument/2006/relationships" id="257" r:id="R511bed1025654181"/>
    <p:sldId xmlns:r="http://schemas.openxmlformats.org/officeDocument/2006/relationships" id="258" r:id="Ra35f9da1db704be7"/>
    <p:sldId xmlns:r="http://schemas.openxmlformats.org/officeDocument/2006/relationships" id="259" r:id="Raae7618e12944465"/>
    <p:sldId xmlns:r="http://schemas.openxmlformats.org/officeDocument/2006/relationships" id="260" r:id="Rba12080518264b82"/>
    <p:sldId xmlns:r="http://schemas.openxmlformats.org/officeDocument/2006/relationships" id="261" r:id="Re58a1d3f0a314ee2"/>
    <p:sldId xmlns:r="http://schemas.openxmlformats.org/officeDocument/2006/relationships" id="262" r:id="R36c7b5c47e2244a5"/>
    <p:sldId xmlns:r="http://schemas.openxmlformats.org/officeDocument/2006/relationships" id="263" r:id="R6ffc7b56e9f14014"/>
    <p:sldId xmlns:r="http://schemas.openxmlformats.org/officeDocument/2006/relationships" id="264" r:id="Ra874f6e260df4ee9"/>
    <p:sldId xmlns:r="http://schemas.openxmlformats.org/officeDocument/2006/relationships" id="265" r:id="R7e1301365b474848"/>
    <p:sldId xmlns:r="http://schemas.openxmlformats.org/officeDocument/2006/relationships" id="266" r:id="R3cb42259a967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268a24adc46c5" /><Relationship Type="http://schemas.openxmlformats.org/officeDocument/2006/relationships/slideMaster" Target="/ppt/slideMasters/slideMaster1.xml" Id="Rc8396836f3e5462d" /><Relationship Type="http://schemas.openxmlformats.org/officeDocument/2006/relationships/notesMaster" Target="/ppt/notesMasters/notesMaster1.xml" Id="R200eab48148d47fa" /><Relationship Type="http://schemas.openxmlformats.org/officeDocument/2006/relationships/presProps" Target="/ppt/presProps.xml" Id="Rbcc21c55bc294ec7" /><Relationship Type="http://schemas.openxmlformats.org/officeDocument/2006/relationships/tableStyles" Target="/ppt/tableStyles.xml" Id="Rcb513771d54640b3" /><Relationship Type="http://schemas.openxmlformats.org/officeDocument/2006/relationships/slide" Target="/ppt/slides/slide1.xml" Id="R6762485755344b5e" /><Relationship Type="http://schemas.openxmlformats.org/officeDocument/2006/relationships/slide" Target="/ppt/slides/slide2.xml" Id="R511bed1025654181" /><Relationship Type="http://schemas.openxmlformats.org/officeDocument/2006/relationships/slide" Target="/ppt/slides/slide3.xml" Id="Ra35f9da1db704be7" /><Relationship Type="http://schemas.openxmlformats.org/officeDocument/2006/relationships/slide" Target="/ppt/slides/slide4.xml" Id="Raae7618e12944465" /><Relationship Type="http://schemas.openxmlformats.org/officeDocument/2006/relationships/slide" Target="/ppt/slides/slide5.xml" Id="Rba12080518264b82" /><Relationship Type="http://schemas.openxmlformats.org/officeDocument/2006/relationships/slide" Target="/ppt/slides/slide6.xml" Id="Re58a1d3f0a314ee2" /><Relationship Type="http://schemas.openxmlformats.org/officeDocument/2006/relationships/slide" Target="/ppt/slides/slide7.xml" Id="R36c7b5c47e2244a5" /><Relationship Type="http://schemas.openxmlformats.org/officeDocument/2006/relationships/slide" Target="/ppt/slides/slide8.xml" Id="R6ffc7b56e9f14014" /><Relationship Type="http://schemas.openxmlformats.org/officeDocument/2006/relationships/slide" Target="/ppt/slides/slide9.xml" Id="Ra874f6e260df4ee9" /><Relationship Type="http://schemas.openxmlformats.org/officeDocument/2006/relationships/slide" Target="/ppt/slides/slide10.xml" Id="R7e1301365b474848" /><Relationship Type="http://schemas.openxmlformats.org/officeDocument/2006/relationships/slide" Target="/ppt/slides/slide11.xml" Id="R3cb42259a967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529288bec4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8932bf862e4121" /><Relationship Type="http://schemas.openxmlformats.org/officeDocument/2006/relationships/notesMaster" Target="/ppt/notesMasters/notesMaster1.xml" Id="Re09a3f825e884f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50ad9863754783" /><Relationship Type="http://schemas.openxmlformats.org/officeDocument/2006/relationships/notesMaster" Target="/ppt/notesMasters/notesMaster1.xml" Id="R849081000fb348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73bf2c566e42e5" /><Relationship Type="http://schemas.openxmlformats.org/officeDocument/2006/relationships/notesMaster" Target="/ppt/notesMasters/notesMaster1.xml" Id="Re6050cb426d449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906d1e7a2a4656" /><Relationship Type="http://schemas.openxmlformats.org/officeDocument/2006/relationships/notesMaster" Target="/ppt/notesMasters/notesMaster1.xml" Id="Racf49cd41c22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ac3e4b351e4eb3" /><Relationship Type="http://schemas.openxmlformats.org/officeDocument/2006/relationships/notesMaster" Target="/ppt/notesMasters/notesMaster1.xml" Id="Re540a308ed134a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f821380ba84a6f" /><Relationship Type="http://schemas.openxmlformats.org/officeDocument/2006/relationships/notesMaster" Target="/ppt/notesMasters/notesMaster1.xml" Id="Re82e6353b0b3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e5cd8a48a54426" /><Relationship Type="http://schemas.openxmlformats.org/officeDocument/2006/relationships/notesMaster" Target="/ppt/notesMasters/notesMaster1.xml" Id="R001fdfbbe0374e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e8058fdee748e7" /><Relationship Type="http://schemas.openxmlformats.org/officeDocument/2006/relationships/notesMaster" Target="/ppt/notesMasters/notesMaster1.xml" Id="R5632ab19bea746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9b0bb4e7e949b0" /><Relationship Type="http://schemas.openxmlformats.org/officeDocument/2006/relationships/notesMaster" Target="/ppt/notesMasters/notesMaster1.xml" Id="R78e35fce2ccc44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f1ae60538642e2" /><Relationship Type="http://schemas.openxmlformats.org/officeDocument/2006/relationships/notesMaster" Target="/ppt/notesMasters/notesMaster1.xml" Id="R790d5d927b6e4d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c2fb6985b4438e" /><Relationship Type="http://schemas.openxmlformats.org/officeDocument/2006/relationships/notesMaster" Target="/ppt/notesMasters/notesMaster1.xml" Id="R936b254951c04a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 User-study sample sizes come from the team plan and are planned, not completed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 This slide describes product categories and the project gap without claiming measured market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Project_Kickoff.pdf, pages 5-7; selected topic at https://tcnaj3eh0jga.feishu.cn/wiki/QQfmw6BmdiglaUk1T6VcpEhRnvd; team plan at https://my.feishu.cn/wiki/DAZgwqkIYixhoQk18E7cFlwhngb; docs/proposal-scope.md.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7028b15df4e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a92752982843bc" /><Relationship Type="http://schemas.openxmlformats.org/officeDocument/2006/relationships/slideLayout" Target="/ppt/slideLayouts/slideLayout1.xml" Id="Ra5f89c715ca542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f89c715ca542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e921b1d6d4200" /><Relationship Type="http://schemas.openxmlformats.org/officeDocument/2006/relationships/notesSlide" Target="/ppt/notesSlides/notesSlide1.xml" Id="Re56bf739bdc042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601f536c54353" /><Relationship Type="http://schemas.openxmlformats.org/officeDocument/2006/relationships/notesSlide" Target="/ppt/notesSlides/notesSlide2.xml" Id="R2a19c8987cfb45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ffc8c60b4e5c" /><Relationship Type="http://schemas.openxmlformats.org/officeDocument/2006/relationships/notesSlide" Target="/ppt/notesSlides/notesSlide3.xml" Id="R2097f509829845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0d941674d4fae" /><Relationship Type="http://schemas.openxmlformats.org/officeDocument/2006/relationships/notesSlide" Target="/ppt/notesSlides/notesSlide4.xml" Id="R85d5ede3bd2241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7f74f3c2e4ecc" /><Relationship Type="http://schemas.openxmlformats.org/officeDocument/2006/relationships/notesSlide" Target="/ppt/notesSlides/notesSlide5.xml" Id="Reeda4bcaba6441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b3a3147714caa" /><Relationship Type="http://schemas.openxmlformats.org/officeDocument/2006/relationships/notesSlide" Target="/ppt/notesSlides/notesSlide6.xml" Id="Rebdb97d674e945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488329c4e4da5" /><Relationship Type="http://schemas.openxmlformats.org/officeDocument/2006/relationships/notesSlide" Target="/ppt/notesSlides/notesSlide7.xml" Id="Re70bc645387342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69b6f42674728" /><Relationship Type="http://schemas.openxmlformats.org/officeDocument/2006/relationships/notesSlide" Target="/ppt/notesSlides/notesSlide8.xml" Id="R0e849d7f6f8246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32df93b294cc4" /><Relationship Type="http://schemas.openxmlformats.org/officeDocument/2006/relationships/notesSlide" Target="/ppt/notesSlides/notesSlide9.xml" Id="R5c30189a508b41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a794c971646df" /><Relationship Type="http://schemas.openxmlformats.org/officeDocument/2006/relationships/notesSlide" Target="/ppt/notesSlides/notesSlide10.xml" Id="R0630110c064249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43d72b54f4c3a" /><Relationship Type="http://schemas.openxmlformats.org/officeDocument/2006/relationships/notesSlide" Target="/ppt/notesSlides/notesSlide11.xml" Id="R207e468852444b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D0E02-F72B-490D-8ABF-05E2CD88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57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55F8B-A106-46AC-8C3B-9E730E72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ApplyGuard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D53FF-D774-4215-B523-9A2ECF40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5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5EF"/>
                </a:solidFill>
                <a:latin typeface="Arial"/>
                <a:ea typeface="Arial"/>
                <a:cs typeface="Arial"/>
              </a:rPr>
              <a:t>Evidence-grounded job applications with human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54496-5432-4DB6-B26A-1BF1C6F4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9C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9CA"/>
                </a:solidFill>
                <a:latin typeface="Arial"/>
                <a:ea typeface="Arial"/>
                <a:cs typeface="Arial"/>
              </a:rPr>
              <a:t>Software Engineering Project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D7900-58F8-4E50-96ED-898FD9E9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9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9CA"/>
                </a:solidFill>
                <a:latin typeface="Arial"/>
                <a:ea typeface="Arial"/>
                <a:cs typeface="Arial"/>
              </a:rPr>
              <a:t>Proposal foundation</a:t>
            </a:r>
          </a:p>
          <a:p xmlns:a="http://schemas.openxmlformats.org/drawingml/2006/main">
            <a:pPr algn="l">
              <a:defRPr sz="1275" b="0">
                <a:solidFill>
                  <a:srgbClr val="AAB9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9CA"/>
                </a:solidFill>
                <a:latin typeface="Arial"/>
                <a:ea typeface="Arial"/>
                <a:cs typeface="Arial"/>
              </a:rPr>
              <a:t>10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47647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E9C8B-246B-490D-AAD1-8CA03019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5DFD2-BA78-473B-8ECA-CD1995A6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7FB07-D98E-4C4A-B809-BD73215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C0694-C077-4999-B90A-B4D59E0E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58D4D-D6C5-4391-A915-8F9E09CD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19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Applicants repeatedly turn scattered experience into job-specific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8CB0B-3366-4C6C-835B-08D7309A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F6EAD-D953-42DB-BF36-59E7A0E9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Current tools can improve wording while losing the connection to evidence, hiding uncertainty, or creating unsupported statements.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58D7F-CA64-43F9-8675-B15EC18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The missing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67FE1-3B17-45F8-96A0-26BD2789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Trace every claim</a:t>
            </a:r>
          </a:p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Explain every selection</a:t>
            </a:r>
          </a:p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Stop before submission</a:t>
            </a:r>
          </a:p>
        </p:txBody>
      </p:sp>
    </p:spTree>
    <p:extLst>
      <p:ext uri="{BB962C8B-B14F-4D97-AF65-F5344CB8AC3E}">
        <p14:creationId xmlns:p14="http://schemas.microsoft.com/office/powerpoint/2010/main" val="691284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9E960-21C9-4B07-BB84-26E0BBFF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831BF-5D41-41EB-997F-8599645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Target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9CC22-423B-4367-AF43-4EC58A3C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826AD-189C-4908-A558-1DF86249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78CD4-7D16-47A0-9C9C-73DF4A69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Primary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887AE-A996-4190-8B5E-B040F137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859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Senior undergraduates and postgraduates seeking software, AI, or data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9A493-F74C-4340-A543-8B89E93E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4F615-612F-4EC4-A9FC-A21C9215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Application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9543E-4180-48BC-B5EF-FECEEE9E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At least five jobs reviewed or applied to per week during a concentrated search period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32EE1-8926-469B-A6EA-5FC6814D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1BD48-ABB7-4EEE-96CB-9628995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Available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5E138-9BC7-4DBF-8166-A8BA8FC6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At least three substantial project, research, competition, or internship experiences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798D9-42E2-43C0-A61A-AE2495D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1AF48-39D7-4F3B-BCCA-165AC109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Study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2C193-AFC9-40D0-BB2F-78C7F3AB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86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B will run 10-20 lightweight surveys and 4-6 semi-structured interviews before the proposal</a:t>
            </a:r>
          </a:p>
        </p:txBody>
      </p:sp>
    </p:spTree>
    <p:extLst>
      <p:ext uri="{BB962C8B-B14F-4D97-AF65-F5344CB8AC3E}">
        <p14:creationId xmlns:p14="http://schemas.microsoft.com/office/powerpoint/2010/main" val="1322907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6E139-3275-47DD-BFC8-E665CAFA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80635-2B79-461E-901B-84F3A01A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Related Work and Project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B0626-D1E9-41F1-B853-64435E9E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97FE1-4865-48D5-A49E-F8F630BB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95B33-CE90-4977-9EA1-460C9B23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General writing assistants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40970-9FB5-4C6A-8664-F0533FA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F2350-F55B-4ADD-B79F-9429AE20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971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Useful for rewriting and drafting. They may not retain structured evidence or expose unsupported fragments.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6D952-9482-4EAB-AEC4-14804F9B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76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Resume builders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C8193-58B9-4314-A4E0-78A3370A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551DC-C022-480A-B453-E2DBA1BF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2971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Useful for formatting and templates. They often treat source experience as free text and stop before ATS risk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ECF9C-7E90-441B-A039-FA9AB46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ApplyGuard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E06AA-C518-44C3-9B27-36E2F9E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D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8C762-E2A8-490E-A700-676A54BC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29718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A single inspectable path connects evidence, job requirements, resume claims, ATS fields, visible risks, and user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29217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4AB1E-7E56-405C-8F36-73CD76D8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4ACFB-C00C-4971-A4AF-3E49510D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Proposal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E09DE-AD51-4D92-B5DB-7246263A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3FE0E-46FF-4C4A-B63D-967C75EE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EE27A-103D-43EF-BC8A-0B889219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P0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359DD-5C7A-492B-966B-7B83808C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One runnable mock workflow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Frozen JSON contracts and error format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Fictional Career Vault data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Evidence IDs on every selected claim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Human confirmation before any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2074A-4BCD-4949-B198-B0CBC481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66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Outside the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1BB25-EC2C-46AE-B56D-9ECF8E02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Automatic application submission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Support for every ATS platform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Production identity verification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Claims without stored evidence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5344A"/>
                </a:solidFill>
                <a:latin typeface="Arial"/>
                <a:ea typeface="Arial"/>
                <a:cs typeface="Arial"/>
              </a:rPr>
              <a:t>Measured accuracy before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D6A3E-A2AC-4F99-B0FF-3974F0FB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7"/>
          </a:solidFill>
          <a:ln xmlns:a="http://schemas.openxmlformats.org/drawingml/2006/main" w="9525">
            <a:solidFill>
              <a:srgbClr val="486A9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5C830-6D5A-4904-9FED-6B01C9EF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Core scope: three user stories and one complete main workflow</a:t>
            </a:r>
          </a:p>
        </p:txBody>
      </p:sp>
    </p:spTree>
    <p:extLst>
      <p:ext uri="{BB962C8B-B14F-4D97-AF65-F5344CB8AC3E}">
        <p14:creationId xmlns:p14="http://schemas.microsoft.com/office/powerpoint/2010/main" val="1173035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174DB-723D-4472-8F77-D9E0B225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7FE44-1EB0-4F7C-9156-9229A4D2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User Journey and Internal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C7431-FBC0-4A48-ACE7-12E334DE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B3920-BE79-4AD4-A967-CF4F1BEB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A2726-FF7D-4AC3-AE69-12465C4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Career Vault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1D4E8-0895-46D1-9DBB-0F6B233C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JD Parser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85E8B-0819-4B17-AEC1-555DBD5A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Evidence Matcher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9FA8A-39DD-402F-A389-231EAD5F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Resume Selector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FB23D-DC65-4AC4-9A0E-489EE7DC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288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13335">
            <a:solidFill>
              <a:srgbClr val="9F1D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Claim Validator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318C8-9502-46AD-8EF9-7A05BBA8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ATS Form Mapper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C0ADE-78CD-4C79-9BBE-E4520D77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13335">
            <a:solidFill>
              <a:srgbClr val="9F1D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7</a:t>
            </a:r>
          </a:p>
          <a:p xmlns:a="http://schemas.openxmlformats.org/drawingml/2006/main">
            <a:pPr algn="ctr">
              <a:defRPr sz="13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Risk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85CBB-7D3A-469C-9AE3-EBE3A005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3335">
            <a:solidFill>
              <a:srgbClr val="A36B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8</a:t>
            </a:r>
          </a:p>
          <a:p xmlns:a="http://schemas.openxmlformats.org/drawingml/2006/main">
            <a:pPr algn="ctr">
              <a:defRPr sz="135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Human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B874E-1377-4FF5-8E51-1AD4FB86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1905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EC"/>
          </a:solidFill>
          <a:ln xmlns:a="http://schemas.openxmlformats.org/drawingml/2006/main" w="13335">
            <a:solidFill>
              <a:srgbClr val="3F6B4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B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6B45"/>
                </a:solidFill>
                <a:latin typeface="Arial"/>
                <a:ea typeface="Arial"/>
                <a:cs typeface="Arial"/>
              </a:rPr>
              <a:t>9</a:t>
            </a:r>
          </a:p>
          <a:p xmlns:a="http://schemas.openxmlformats.org/drawingml/2006/main">
            <a:pPr algn="ctr">
              <a:defRPr sz="1350" b="1">
                <a:solidFill>
                  <a:srgbClr val="3F6B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6B45"/>
                </a:solidFill>
                <a:latin typeface="Arial"/>
                <a:ea typeface="Arial"/>
                <a:cs typeface="Arial"/>
              </a:rPr>
              <a:t>Audit Record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244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72600" y="22383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563100" y="2647950"/>
            <a:ext cx="1181100" cy="1352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191500" y="4410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867400" y="4410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543300" y="4410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4E075-13E0-4331-877C-42C523F9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The 12-step user journey maps to these 9 modules. Final consistency runs before confirmation; the applicant submits manually.</a:t>
            </a:r>
          </a:p>
        </p:txBody>
      </p:sp>
    </p:spTree>
    <p:extLst>
      <p:ext uri="{BB962C8B-B14F-4D97-AF65-F5344CB8AC3E}">
        <p14:creationId xmlns:p14="http://schemas.microsoft.com/office/powerpoint/2010/main" val="30798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68459-A98B-4A0B-AFA0-E01FDE58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0C104-148F-4808-AB24-14AA9226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Target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2B4BE-9DF8-438C-A8D8-004710E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80D1B-E4B6-4C74-8824-8AF62850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65596-E703-4243-9F2E-D1EE613B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81300"/>
            <a:ext cx="14287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344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Applicant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AA090-0150-40C8-85ED-56225EA2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8605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9EFF7"/>
          </a:solidFill>
          <a:ln xmlns:a="http://schemas.openxmlformats.org/drawingml/2006/main" w="13335">
            <a:solidFill>
              <a:srgbClr val="486A9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Web App +</a:t>
            </a:r>
          </a:p>
          <a:p xmlns:a="http://schemas.openxmlformats.org/drawingml/2006/main">
            <a:pPr algn="ctr">
              <a:defRPr sz="1275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ATS Scanner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A3607-1FF8-4AB7-AD6A-B329800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86050"/>
            <a:ext cx="171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8F4"/>
          </a:solidFill>
          <a:ln xmlns:a="http://schemas.openxmlformats.org/drawingml/2006/main" w="13335">
            <a:solidFill>
              <a:srgbClr val="486A9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Application API +</a:t>
            </a:r>
          </a:p>
          <a:p xmlns:a="http://schemas.openxmlformats.org/drawingml/2006/main">
            <a:pPr algn="ctr">
              <a:defRPr sz="1275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Orchestrator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EFDF2-7084-4662-AB44-9F1E307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E8F4"/>
          </a:solidFill>
          <a:ln xmlns:a="http://schemas.openxmlformats.org/drawingml/2006/main" w="13335">
            <a:solidFill>
              <a:srgbClr val="486A9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44A"/>
                </a:solidFill>
                <a:latin typeface="Arial"/>
                <a:ea typeface="Arial"/>
                <a:cs typeface="Arial"/>
              </a:rPr>
              <a:t>Skill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83493-0F9F-4692-81AB-6EFF6906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13335">
            <a:solidFill>
              <a:srgbClr val="9F1D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JD · Evidence · Resume</a:t>
            </a:r>
          </a:p>
          <a:p xmlns:a="http://schemas.openxmlformats.org/drawingml/2006/main">
            <a:pPr algn="ctr">
              <a:defRPr sz="120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Claim · Form Map ·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1B276-0A72-4878-B722-8CF4CC41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3335">
            <a:solidFill>
              <a:srgbClr val="A36B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Schema + Semantic Validator</a:t>
            </a:r>
          </a:p>
          <a:p xmlns:a="http://schemas.openxmlformats.org/drawingml/2006/main">
            <a:pPr algn="ctr">
              <a:defRPr sz="120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Retry or deterministic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BB6D8-7A67-4C4F-BE37-976359B5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EC"/>
          </a:solidFill>
          <a:ln xmlns:a="http://schemas.openxmlformats.org/drawingml/2006/main" w="13335">
            <a:solidFill>
              <a:srgbClr val="3F6B4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F6B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6B45"/>
                </a:solidFill>
                <a:latin typeface="Arial"/>
                <a:ea typeface="Arial"/>
                <a:cs typeface="Arial"/>
              </a:rPr>
              <a:t>Career Evidence Graph</a:t>
            </a:r>
          </a:p>
          <a:p xmlns:a="http://schemas.openxmlformats.org/drawingml/2006/main">
            <a:pPr algn="ctr">
              <a:defRPr sz="1200" b="1">
                <a:solidFill>
                  <a:srgbClr val="3F6B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6B45"/>
                </a:solidFill>
                <a:latin typeface="Arial"/>
                <a:ea typeface="Arial"/>
                <a:cs typeface="Arial"/>
              </a:rPr>
              <a:t>PostgreSQL + pgvector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B4702-52DC-4659-856D-849A71C8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7665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3335">
            <a:solidFill>
              <a:srgbClr val="A36B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Human Review +</a:t>
            </a:r>
          </a:p>
          <a:p xmlns:a="http://schemas.openxmlformats.org/drawingml/2006/main">
            <a:pPr algn="ctr">
              <a:defRPr sz="1200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Versioned Audit</a:t>
            </a:r>
          </a:p>
        </p:txBody>
      </p:sp>
      <p:cxnSp>
        <p:nvCxnSpPr>
          <p:cNvPr id="34" name=""/>
          <p:cNvCxnSpPr>
            <a:stCxn xmlns:a="http://schemas.openxmlformats.org/drawingml/2006/main" id="5" idx="6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90700" y="3095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00450" y="30956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95950" y="30956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524750" y="2228850"/>
            <a:ext cx="400050" cy="866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020175" y="27051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0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38700" y="3505200"/>
            <a:ext cx="3086100" cy="590550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1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38700" y="3505200"/>
            <a:ext cx="3086100" cy="1743075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3F6B45"/>
            </a:solidFill>
            <a:prstDash val="dash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0115550" y="4086225"/>
            <a:ext cx="285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B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C9976-D87E-45AD-B9CE-931EAA2F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24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proposal uses fixtures and an ATS simulator while preserving every final-system boundary.</a:t>
            </a:r>
          </a:p>
        </p:txBody>
      </p:sp>
    </p:spTree>
    <p:extLst>
      <p:ext uri="{BB962C8B-B14F-4D97-AF65-F5344CB8AC3E}">
        <p14:creationId xmlns:p14="http://schemas.microsoft.com/office/powerpoint/2010/main" val="385931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5A22D-7BF4-439D-AEB7-067A534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EA0E-22BF-42C8-9005-1C0809A3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Four Technical Mechanisms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C360E-4829-40D2-9565-40E9D15D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1189D-1C2C-4BC6-949D-057B32EE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CDDCC-CDC8-49BA-B875-023F1FCF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Evidence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43099-C232-4AFF-80A9-22FBAB5B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CA4CD-B93B-41C1-81D5-1948E33D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25527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Experience and claim links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Metrics and source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Confidence and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1B7F4-79FA-447E-B9EA-E9EF4D21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0020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Constrained Selection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75B08-E0CB-4D18-9DEC-8E5C847A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AB31C-B925-4355-8098-FBCE224E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52700"/>
            <a:ext cx="25527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JD relevance and impact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Length and evidence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Selection and removal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D44A9-433A-4422-B75F-C57C00B0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Claim 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A76C2-1AA5-4CF1-AA40-61C8619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D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BB65F-FCCF-4DAE-B551-7234D67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25527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Claim-level support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Unsupported fragments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Verify, review, or block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F9F29-1031-49DE-B6B8-E076D313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0200"/>
            <a:ext cx="2524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Risk-aware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87E32-6528-4DFE-9628-346AEBF9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D2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8EFAD-8474-4C5E-91E4-36DB9E7A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5527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Safe fill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Human confirmation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Block high-risk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40D19-C6B9-4982-A393-C2D222B9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435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The Skill Router may call AI, but validators and the applicant control every transition.</a:t>
            </a:r>
          </a:p>
        </p:txBody>
      </p:sp>
    </p:spTree>
    <p:extLst>
      <p:ext uri="{BB962C8B-B14F-4D97-AF65-F5344CB8AC3E}">
        <p14:creationId xmlns:p14="http://schemas.microsoft.com/office/powerpoint/2010/main" val="802587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CD0AE-9458-4D55-9942-70728A84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9050D-CEDC-48D6-ABAA-1F90D68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Risks and Evaluation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005CC-EECA-4A22-981E-6E12645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78019-2A8B-4BB4-8AB7-E7F4A35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9C67C-F5BA-4700-8747-3C7F55E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19755-3DA2-40D3-AAD5-4BE48BC2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9E030-9B81-467E-BF51-95F201EA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Planned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C13BF-C48B-40F8-B162-F844F8F7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31510-5265-41A6-9BD8-2273D58D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Unsupported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A14C3-885A-436E-B446-48368C9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Block the fragment and show its missing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5AF4A-6858-4E6B-A8DF-F25FF595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Unsupported Claim Block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D2007-56B7-4219-B512-A576E428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5D4B9-A636-4AB7-BEE9-E63DF068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Wrong JD 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98BC8-F626-4139-AB1D-C3201743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527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Retain source text and compare parsed fields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7932E-534D-4BF0-A14D-B023197A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JD Parsing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0E06D-A367-4B1E-B7B6-01209D2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5DED5-DE3A-407F-9C0D-9104F90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Malformed model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B529A-5FC1-4B8D-A4D3-DD0F121D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Validate JSON and use a deterministic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08D80-BEC2-4CB5-B638-464D5170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Failure Test Suite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92CAB-7DFD-47D5-BCD9-4E18DC2F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3F7BF-338C-4691-BC42-CDAC6C6D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Confusing risk 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F2CD1-87F4-4E90-BF6D-9159D3A6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720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Run task-based usability testing after the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A67E1-42A4-4E4F-8475-4E7A2789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Completion, time, errors, SUS</a:t>
            </a:r>
          </a:p>
        </p:txBody>
      </p:sp>
    </p:spTree>
    <p:extLst>
      <p:ext uri="{BB962C8B-B14F-4D97-AF65-F5344CB8AC3E}">
        <p14:creationId xmlns:p14="http://schemas.microsoft.com/office/powerpoint/2010/main" val="1025590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D62C9-8A20-4DB5-B649-6D6DB498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D3BB0-88F5-4FEE-B9B3-5253C9E0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Team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73E9E-F06A-4E9C-8CC0-1886973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BF011-ADCA-4D8F-9D5D-6FC382D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6A443-68D5-4765-A553-0DA0F5B5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C2EC4-C765-43E4-89A0-5251FCC3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192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1-2 Oct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8DF4D-2482-4FBE-B3E5-0FFAA5D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Canonical scope, target architecture, contracts, repository 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A75F9-46AF-4030-AFB1-9D01C8C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00F09-2AA1-4B36-ACCB-CAB0F7C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2BA59-409C-4AFB-A00E-0D42BCAE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86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3-4 Oct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B962D-2CDD-4082-A529-B5CFFC1A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479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Evidence Graph, constrained selection, formative user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6FDA0-80D8-49D1-BA04-22FF27A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17E8D-4F1E-480A-9364-F90E5EC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4C9F1-BF31-4E8A-9EBB-81D20B7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528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5-6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D8EBF-F42A-45AE-996E-E8A739B1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Skill Router, JD skill, claim validation, risk and failure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E1EB9-0209-47B2-AED4-34756AFF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8683F-3C53-4CDA-A5A5-D4EC35A5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7C257-ABC8-44F7-9D15-9AC6C677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96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5758B"/>
                </a:solidFill>
                <a:latin typeface="Arial"/>
                <a:ea typeface="Arial"/>
                <a:cs typeface="Arial"/>
              </a:rPr>
              <a:t>7-8 Oct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6063E-DE43-4341-9F14-034CBDD1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815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ATS mapping, human review, integration, demo and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3C488-6AF3-45B1-BD79-7D4CD9EB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9228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E76D0-B34F-402E-A965-FD1AD812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D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E9712-5B62-44FA-A1D8-52A09316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Proposal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E3510-E12C-4DE4-9F9A-371C4237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1715-8B16-4D1B-8B57-3D47E1D9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5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60D7-041A-4031-B111-1465F9A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8C356-4B40-4D35-B1F5-837C3613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668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Load fictional Career Vault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290CD-B6DD-455A-85EC-DB3F3D08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859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118DA-DA45-4FFE-BD07-9AB8C739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FEADA-CCB8-410D-9775-C1A1A8BA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Paste the fixed proposal job description 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2AA1A-53A6-4ABE-8B85-1EFFA897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EC73B-BFC1-44DC-B8F3-887F3689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42110-470A-4DC9-A81A-C567D7AE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Inspect evidence matches and selected resume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43667-F446-489E-BA29-E1D0115E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FE4F6-DB78-4129-9230-09CCA528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D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1D2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0C765-4D4A-44B7-9422-75C9C30E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4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44A"/>
                </a:solidFill>
                <a:latin typeface="Arial"/>
                <a:ea typeface="Arial"/>
                <a:cs typeface="Arial"/>
              </a:rPr>
              <a:t>Show the risk result and human-confirmation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0F2C2-748E-4736-B064-BF61E72C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5777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7A330-0C0C-4ECF-989B-1B28236E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3619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4288">
            <a:solidFill>
              <a:srgbClr val="A36B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C38FE-3F43-43C7-849A-E6777BB8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36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6B00"/>
                </a:solidFill>
                <a:latin typeface="Arial"/>
                <a:ea typeface="Arial"/>
                <a:cs typeface="Arial"/>
              </a:rPr>
              <a:t>Stop before submission</a:t>
            </a:r>
          </a:p>
        </p:txBody>
      </p:sp>
    </p:spTree>
    <p:extLst>
      <p:ext uri="{BB962C8B-B14F-4D97-AF65-F5344CB8AC3E}">
        <p14:creationId xmlns:p14="http://schemas.microsoft.com/office/powerpoint/2010/main" val="390518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2026-10-01T11:46:12.2970000Z</dcterms:created>
  <dcterms:modified xsi:type="dcterms:W3CDTF">2026-10-01T11:46:12.2970000Z</dcterms:modified>
</coreProperties>
</file>